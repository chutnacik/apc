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52a9630f6e4f4c" /><Relationship Type="http://schemas.openxmlformats.org/officeDocument/2006/relationships/extended-properties" Target="/docProps/app.xml" Id="Rd9f4551ee47c482b" /><Relationship Type="http://schemas.openxmlformats.org/officeDocument/2006/relationships/officeDocument" Target="/ppt/presentation.xml" Id="Rb38fa53724b74e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ea63c10df6469f"/>
  </p:sldMasterIdLst>
  <p:notesMasterIdLst>
    <p:notesMasterId xmlns:r="http://schemas.openxmlformats.org/officeDocument/2006/relationships" r:id="R179f81de7c644b2c"/>
  </p:notesMasterIdLst>
  <p:sldIdLst>
    <p:sldId xmlns:r="http://schemas.openxmlformats.org/officeDocument/2006/relationships" id="256" r:id="Rfd6566bcd1d1432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ea63c10df6469f" /><Relationship Type="http://schemas.openxmlformats.org/officeDocument/2006/relationships/theme" Target="/ppt/theme/theme1.xml" Id="R266a1ee9573143f6" /><Relationship Type="http://schemas.openxmlformats.org/officeDocument/2006/relationships/notesMaster" Target="/ppt/notesMasters/notesMaster1.xml" Id="R179f81de7c644b2c" /><Relationship Type="http://schemas.openxmlformats.org/officeDocument/2006/relationships/presProps" Target="/ppt/presProps.xml" Id="Rd9ba77c82ed94a85" /><Relationship Type="http://schemas.openxmlformats.org/officeDocument/2006/relationships/viewProps" Target="/ppt/viewProps.xml" Id="Rfad7c982f360426f" /><Relationship Type="http://schemas.openxmlformats.org/officeDocument/2006/relationships/tableStyles" Target="/ppt/tableStyles.xml" Id="R294c1a17c22b4b95" /><Relationship Type="http://schemas.openxmlformats.org/officeDocument/2006/relationships/slide" Target="/ppt/slides/slide1.xml" Id="Rfd6566bcd1d143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d6913986edb43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c7697937874ed3" /><Relationship Type="http://schemas.openxmlformats.org/officeDocument/2006/relationships/notesMaster" Target="/ppt/notesMasters/notesMaster1.xml" Id="R6fc35f9bdf6944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APC e-shop / showroom slide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/Users/jakubchutnak/Sites/apc-html/apc/apc-homepage.html</a:t>
            </a:r>
          </a:p>
          <a:p xmlns:a="http://schemas.openxmlformats.org/drawingml/2006/main">
            <a:r>
              <a:t>- /Users/jakubchutnak/Sites/apc-html/apc/images/APC/cforce-1000-touring-25-copy-title-copy-1920x938.jpeg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1707c992143b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D779A5E4-84B3-4E55-BB5F-8193CE07A138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F92F621C-E950-4B9A-9EF8-2FACF5CE8A49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E90FD2-2CA0-4038-BEB8-311FF9466E4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126A0B-3DA8-4B78-85F8-80C8A8D8207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A6CC7B-4836-4981-90C0-68351301902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2f3ae7137954920" /><Relationship Type="http://schemas.openxmlformats.org/officeDocument/2006/relationships/slideLayout" Target="/ppt/slideLayouts/slideLayout2.xml" Id="R45a42687ac4948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00F202-9D78-4FEC-B3B5-620D1D49257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a42687ac4948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437a41f8c549fb" /><Relationship Type="http://schemas.openxmlformats.org/officeDocument/2006/relationships/image" Target="/ppt/media/image.jpeg" Id="R80b65711594f4a47" /><Relationship Type="http://schemas.openxmlformats.org/officeDocument/2006/relationships/notesSlide" Target="/ppt/notesSlides/notesSlide1.xml" Id="R4e2ccf07712d4c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A6CC7B-4836-4981-90C0-6835130190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65711594f4a47"/>
          <a:srcRect xmlns:a="http://schemas.openxmlformats.org/drawingml/2006/main" l="25776" t="0" r="257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1150" y="0"/>
            <a:ext cx="68008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AD41B-0F6C-414D-92D6-6400F5BE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0E">
              <a:alpha val="80000"/>
            </a:srgbClr>
          </a:solidFill>
          <a:ln xmlns:a="http://schemas.openxmlformats.org/drawingml/2006/main" w="0">
            <a:solidFill>
              <a:srgbClr val="090B0E">
                <a:alpha val="8000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497A8-1F16-4FC2-8500-6E27C4CB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1">
              <a:alpha val="94902"/>
            </a:srgbClr>
          </a:solidFill>
          <a:ln xmlns:a="http://schemas.openxmlformats.org/drawingml/2006/main" w="0">
            <a:solidFill>
              <a:srgbClr val="0A0D11">
                <a:alpha val="94902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183FD-9EE2-4802-A7E2-D3A7CFB0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0"/>
            <a:ext cx="190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1">
              <a:alpha val="66667"/>
            </a:srgbClr>
          </a:solidFill>
          <a:ln xmlns:a="http://schemas.openxmlformats.org/drawingml/2006/main" w="0">
            <a:solidFill>
              <a:srgbClr val="0A0D11">
                <a:alpha val="66667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E1FDD-D3F0-4C8B-9F81-A60517BD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0050"/>
            <a:ext cx="11315700" cy="6057900"/>
          </a:xfrm>
          <a:prstGeom xmlns:a="http://schemas.openxmlformats.org/drawingml/2006/main" prst="roundRect">
            <a:avLst>
              <a:gd name="adj" fmla="val 1258"/>
            </a:avLst>
          </a:prstGeom>
          <a:solidFill xmlns:a="http://schemas.openxmlformats.org/drawingml/2006/main">
            <a:srgbClr val="0E1319">
              <a:alpha val="66667"/>
            </a:srgbClr>
          </a:solidFill>
          <a:ln xmlns:a="http://schemas.openxmlformats.org/drawingml/2006/main" w="9525">
            <a:solidFill>
              <a:srgbClr val="222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40589-EF3E-44CA-A854-1134E1CA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381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94AE4-E574-40E6-8B87-28E27C00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APC SHOP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A9924-F5AA-40D8-9A84-108F52FB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2590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232C">
              <a:alpha val="94118"/>
            </a:srgbClr>
          </a:solidFill>
          <a:ln xmlns:a="http://schemas.openxmlformats.org/drawingml/2006/main" w="9525">
            <a:solidFill>
              <a:srgbClr val="3240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C5EE0-738C-4365-8CF9-A38540CA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DBA74"/>
                </a:solidFill>
              </a:defRPr>
            </a:pPr>
            <a:r>
              <a:rPr sz="900" b="1">
                <a:solidFill>
                  <a:srgbClr val="FDBA74"/>
                </a:solidFill>
              </a:rPr>
              <a:t>SHOWROOM + SERVIS + E-SHOP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80A62-6AF3-4919-A229-C0B18233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095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6F1E8"/>
                </a:solidFill>
              </a:defRPr>
            </a:pPr>
            <a:r>
              <a:rPr sz="2325" b="1">
                <a:solidFill>
                  <a:srgbClr val="F6F1E8"/>
                </a:solidFill>
              </a:rPr>
              <a:t>Showroom, servis a e-shop v Bardejove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95315-D9FE-4F51-9BBC-03C189F2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390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DBA74"/>
                </a:solidFill>
              </a:defRPr>
            </a:pPr>
            <a:r>
              <a:rPr sz="1800" b="1">
                <a:solidFill>
                  <a:srgbClr val="FDBA74"/>
                </a:solidFill>
              </a:rPr>
              <a:t>Všetko pre jazdcov na jednom mieste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7AB6A-EB8F-458A-8C87-DE4518CA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C1B8"/>
                </a:solidFill>
              </a:defRPr>
            </a:pPr>
            <a:r>
              <a:rPr sz="1125" b="0">
                <a:solidFill>
                  <a:srgbClr val="C7C1B8"/>
                </a:solidFill>
              </a:rPr>
              <a:t>Od strojov a výbavy až po servisné zázemie. APC v Bardejove spája fyzický showroom s online ponukou, aby si mal nákup aj podporu na jednom mieste.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6A6BB-A784-48C3-A72A-3AF09B9A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2133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E1CA4-CAE2-4C76-9735-9623DCB7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Prezrieť ponuku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F6DD2-E7AF-4E3F-B025-5CBC8D25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704850"/>
            <a:ext cx="39433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0151C">
              <a:alpha val="86667"/>
            </a:srgbClr>
          </a:solidFill>
          <a:ln xmlns:a="http://schemas.openxmlformats.org/drawingml/2006/main" w="9525">
            <a:solidFill>
              <a:srgbClr val="2A33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8C639-10A7-4A4C-8B63-01C4819C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971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E-shop pre jazdcov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6EF1F-9C42-4724-9FD9-6F514773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144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C1B8"/>
                </a:solidFill>
              </a:defRPr>
            </a:pPr>
            <a:r>
              <a:rPr sz="1050" b="0">
                <a:solidFill>
                  <a:srgbClr val="C7C1B8"/>
                </a:solidFill>
              </a:rPr>
              <a:t>Prilby, oblečenie, doplnky, diely a mazivá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0F572-F8D4-4D71-9997-13666265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6690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232C">
              <a:alpha val="94118"/>
            </a:srgbClr>
          </a:solidFill>
          <a:ln xmlns:a="http://schemas.openxmlformats.org/drawingml/2006/main" w="9525">
            <a:solidFill>
              <a:srgbClr val="3240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934DF-8EA8-486C-9238-ACDAFF9E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43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DBA74"/>
                </a:solidFill>
              </a:defRPr>
            </a:pPr>
            <a:r>
              <a:rPr sz="900" b="1">
                <a:solidFill>
                  <a:srgbClr val="FDBA74"/>
                </a:solidFill>
              </a:rPr>
              <a:t>Prilby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3B5A1-D1C2-4567-97E5-C4AD1C7F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669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232C">
              <a:alpha val="94118"/>
            </a:srgbClr>
          </a:solidFill>
          <a:ln xmlns:a="http://schemas.openxmlformats.org/drawingml/2006/main" w="9525">
            <a:solidFill>
              <a:srgbClr val="3240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EB38DA-A68E-41ED-A05A-38235A9D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431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DBA74"/>
                </a:solidFill>
              </a:defRPr>
            </a:pPr>
            <a:r>
              <a:rPr sz="900" b="1">
                <a:solidFill>
                  <a:srgbClr val="FDBA74"/>
                </a:solidFill>
              </a:rPr>
              <a:t>Oblečenie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9E6021-7441-4768-B9A4-CDE63D2C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66900"/>
            <a:ext cx="800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232C">
              <a:alpha val="94118"/>
            </a:srgbClr>
          </a:solidFill>
          <a:ln xmlns:a="http://schemas.openxmlformats.org/drawingml/2006/main" w="9525">
            <a:solidFill>
              <a:srgbClr val="3240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58163D-AE4F-46B5-92C4-185C7620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431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DBA74"/>
                </a:solidFill>
              </a:defRPr>
            </a:pPr>
            <a:r>
              <a:rPr sz="900" b="1">
                <a:solidFill>
                  <a:srgbClr val="FDBA74"/>
                </a:solidFill>
              </a:rPr>
              <a:t>Diely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57F023-7296-4822-B6E0-6FE2C6B8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66950"/>
            <a:ext cx="1009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232C">
              <a:alpha val="94118"/>
            </a:srgbClr>
          </a:solidFill>
          <a:ln xmlns:a="http://schemas.openxmlformats.org/drawingml/2006/main" w="9525">
            <a:solidFill>
              <a:srgbClr val="3240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7267FF-968A-4BA5-B1C9-F20BE5C3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DBA74"/>
                </a:solidFill>
              </a:defRPr>
            </a:pPr>
            <a:r>
              <a:rPr sz="900" b="1">
                <a:solidFill>
                  <a:srgbClr val="FDBA74"/>
                </a:solidFill>
              </a:rPr>
              <a:t>Doplnky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F17D5F-B487-42BB-ACB2-81073507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232C">
              <a:alpha val="94118"/>
            </a:srgbClr>
          </a:solidFill>
          <a:ln xmlns:a="http://schemas.openxmlformats.org/drawingml/2006/main" w="9525">
            <a:solidFill>
              <a:srgbClr val="3240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2D5BE6-0D50-4740-9253-79FCCCA1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43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DBA74"/>
                </a:solidFill>
              </a:defRPr>
            </a:pPr>
            <a:r>
              <a:rPr sz="900" b="1">
                <a:solidFill>
                  <a:srgbClr val="FDBA74"/>
                </a:solidFill>
              </a:rPr>
              <a:t>Mazivá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B7E948-D10B-4F8C-A2E7-1A258926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232C">
              <a:alpha val="94118"/>
            </a:srgbClr>
          </a:solidFill>
          <a:ln xmlns:a="http://schemas.openxmlformats.org/drawingml/2006/main" w="9525">
            <a:solidFill>
              <a:srgbClr val="3240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B783C0-B8EB-4553-A25A-312A5A28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43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DBA74"/>
                </a:solidFill>
              </a:defRPr>
            </a:pPr>
            <a:r>
              <a:rPr sz="900" b="1">
                <a:solidFill>
                  <a:srgbClr val="FDBA74"/>
                </a:solidFill>
              </a:rPr>
              <a:t>Servis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DB4D63-ACFA-41B2-ABCE-A3ABDC11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86400"/>
            <a:ext cx="33909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31920">
              <a:alpha val="90196"/>
            </a:srgbClr>
          </a:solidFill>
          <a:ln xmlns:a="http://schemas.openxmlformats.org/drawingml/2006/main" w="9525">
            <a:solidFill>
              <a:srgbClr val="2B344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D7607A-57BD-4087-826C-F5015686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77F9C8-A261-4BA4-A107-5DCDD8EA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435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751C82-E943-4C0B-943B-C57F369E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388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Showroom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75EBCB-AD54-4793-883B-BA844F9F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674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C1B8"/>
                </a:solidFill>
              </a:defRPr>
            </a:pPr>
            <a:r>
              <a:rPr sz="900" b="0">
                <a:solidFill>
                  <a:srgbClr val="C7C1B8"/>
                </a:solidFill>
              </a:rPr>
              <a:t>Stroje, výbava a poradenstvo priamo na predajni.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42D8E2-4600-4C6A-A8B4-86F083E6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86400"/>
            <a:ext cx="33909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31920">
              <a:alpha val="90196"/>
            </a:srgbClr>
          </a:solidFill>
          <a:ln xmlns:a="http://schemas.openxmlformats.org/drawingml/2006/main" w="9525">
            <a:solidFill>
              <a:srgbClr val="2B344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22CF32-2D71-43CC-BE07-33466710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57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88C1DE-7030-40AF-98D1-670F9112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7435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4728A5-108D-41F7-A709-91EBAA4A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388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Servis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66384C-D3A4-44E0-AE2A-2EE87984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674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C1B8"/>
                </a:solidFill>
              </a:defRPr>
            </a:pPr>
            <a:r>
              <a:rPr sz="900" b="0">
                <a:solidFill>
                  <a:srgbClr val="C7C1B8"/>
                </a:solidFill>
              </a:rPr>
              <a:t>Objednanie servisu a zázemie pre ďalšiu starostlivosť.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878622-C612-41DB-AC95-54DA1994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486400"/>
            <a:ext cx="33909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31920">
              <a:alpha val="90196"/>
            </a:srgbClr>
          </a:solidFill>
          <a:ln xmlns:a="http://schemas.openxmlformats.org/drawingml/2006/main" w="9525">
            <a:solidFill>
              <a:srgbClr val="2B344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B5EB73-7471-46DD-9D2A-B0A80033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657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6B437A-DE10-4B6F-99E6-A2C4F31C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7435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AA9076-8665-4385-A07B-F2B0E4C9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6388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E-shop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CE15CE-2D75-4284-9548-8F6B3B9C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8674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C1B8"/>
                </a:solidFill>
              </a:defRPr>
            </a:pPr>
            <a:r>
              <a:rPr sz="900" b="0">
                <a:solidFill>
                  <a:srgbClr val="C7C1B8"/>
                </a:solidFill>
              </a:rPr>
              <a:t>Rýchla cesta k ponuke aj mimo showroomu.</a:t>
            </a:r>
          </a:p>
        </p:txBody>
      </p:sp>
    </p:spTree>
    <p:extLst>
      <p:ext uri="{BB962C8B-B14F-4D97-AF65-F5344CB8AC3E}">
        <p14:creationId xmlns:p14="http://schemas.microsoft.com/office/powerpoint/2010/main" val="1628538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2026-04-20T18:34:07.0060000Z</dcterms:created>
  <dcterms:modified xsi:type="dcterms:W3CDTF">2026-04-20T18:34:07.0060000Z</dcterms:modified>
</coreProperties>
</file>